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2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4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https://arxiv.org/abs/1512.03385 (ResNet paper)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https://arxiv.org/abs/1908.04913 (FairFace dataset; label schema used in the demo)
- https://arxiv.org/abs/1810.03993 (Model Cards; recommends subgroup reporting)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Demonstrating Bias in a Face Attribute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Race×Gender (14-class) classification • Biased vs more balanced training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9728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Goal: show how training distribution choices create measurable performance gaps across demographic subgroups.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Method: same architecture + same training recipe; only the sampling distribution changes.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Evidence: subgroup accuracy on a held-out test set + before/after mitigation comparison.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Models: A (biased sampling) vs U (original / more balanced)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Controlled experiment: same model, different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3383280" cy="914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60120" y="1481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Biased training split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(race×gender caps)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3383280" cy="914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7614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A: ResNet50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(identical setup)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3383280" cy="91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40416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(race×gender classes)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38328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4813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Unbiased/original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split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651760"/>
            <a:ext cx="3383280" cy="914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00600" y="27614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U: ResNet50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(identical setup)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3931920"/>
            <a:ext cx="3383280" cy="914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40416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(race×gender classes)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62053" y="5167220"/>
            <a:ext cx="5832900" cy="1536191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7263" y="5258661"/>
            <a:ext cx="3543309" cy="379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Held‑out test set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(same for both)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17263" y="5761581"/>
            <a:ext cx="3543309" cy="758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accuracy by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gender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race×gender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14600" y="2286000"/>
            <a:ext cx="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14600" y="3566160"/>
            <a:ext cx="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55080" y="2286000"/>
            <a:ext cx="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55080" y="3566160"/>
            <a:ext cx="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897994" y="1645920"/>
            <a:ext cx="3050714" cy="3807676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220200" y="2286000"/>
            <a:ext cx="2728507" cy="21506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variables: same preprocessing (224×224 + ImageNet normalization), same architecture (ResNet50), same optimizer.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performance differences are driven by training data distribution.</a:t>
            </a:r>
            <a:endParaRPr lang="en-US" sz="1400" dirty="0"/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6F5AFBD2-FA0D-B927-298D-E3C13EE2A13D}"/>
              </a:ext>
            </a:extLst>
          </p:cNvPr>
          <p:cNvSpPr/>
          <p:nvPr/>
        </p:nvSpPr>
        <p:spPr>
          <a:xfrm>
            <a:off x="2514600" y="4839623"/>
            <a:ext cx="0" cy="327597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5B301590-339F-EC71-3B84-01980F6DDE73}"/>
              </a:ext>
            </a:extLst>
          </p:cNvPr>
          <p:cNvSpPr/>
          <p:nvPr/>
        </p:nvSpPr>
        <p:spPr>
          <a:xfrm flipH="1">
            <a:off x="6367450" y="4846320"/>
            <a:ext cx="0" cy="327597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6424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Create a biased training distribution (data imbalance)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manipulate subgroup representation via sampling caps per (race, gender).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Overrepresented intersections get many training examples; underrepresented intersections get few.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simulates real-world collection bias and historical under-sampling.</a:t>
            </a:r>
            <a:endParaRPr lang="en-US" sz="1600" dirty="0"/>
          </a:p>
        </p:txBody>
      </p:sp>
      <p:pic>
        <p:nvPicPr>
          <p:cNvPr id="5" name="Image 0" descr="/mnt/data/user-BHG6Fl1mNq7PmaaL35rVecbo/7653f650e4ce4d1cad78951172d24047/mnt/data/slide_fig_train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1097280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537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the plot: the left panel (Model A) is intentionally skewed; the right panel (Model U) is more balanced.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6424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Bias evidence: subgroup accuracy gaps on the test 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accuracy can look acceptable while hiding large errors on underrepresented intersections.</a:t>
            </a:r>
            <a:endParaRPr lang="en-US" sz="1400" dirty="0"/>
          </a:p>
        </p:txBody>
      </p:sp>
      <p:pic>
        <p:nvPicPr>
          <p:cNvPr id="5" name="Image 0" descr="/mnt/data/user-BHG6Fl1mNq7PmaaL35rVecbo/7653f650e4ce4d1cad78951172d24047/mnt/data/slide_fig_test_acc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19"/>
            <a:ext cx="5760720" cy="3883835"/>
          </a:xfrm>
          <a:prstGeom prst="rect">
            <a:avLst/>
          </a:prstGeom>
        </p:spPr>
      </p:pic>
      <p:pic>
        <p:nvPicPr>
          <p:cNvPr id="6" name="Image 1" descr="/mnt/data/user-BHG6Fl1mNq7PmaaL35rVecbo/7653f650e4ce4d1cad78951172d24047/mnt/data/slide_fig_del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45919"/>
            <a:ext cx="5303520" cy="41754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5447775"/>
            <a:ext cx="11061087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Left: accuracy by race×gender for Model A vs Model U.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Right: Δ = (Model U − Model A). Positive bars indicate improvement after rebalancing.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Takeaway: mitigation helps many minority intersections but can trade off on majority groups.</a:t>
            </a:r>
            <a:endParaRPr lang="en-US" sz="14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D1ED2F1-3795-7701-9C90-0364067930DD}"/>
              </a:ext>
            </a:extLst>
          </p:cNvPr>
          <p:cNvSpPr/>
          <p:nvPr/>
        </p:nvSpPr>
        <p:spPr>
          <a:xfrm>
            <a:off x="640080" y="6355080"/>
            <a:ext cx="1152144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2861473-38EA-D77B-D3A7-1E794CE68C96}"/>
              </a:ext>
            </a:extLst>
          </p:cNvPr>
          <p:cNvSpPr/>
          <p:nvPr/>
        </p:nvSpPr>
        <p:spPr>
          <a:xfrm>
            <a:off x="777240" y="642823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Data imbalance can push predictions toward overrepresented classes; balancing training data improves minority intersection performance (but may reduce majority accuracy).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Qualitative check: what each model predicts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669280" cy="5257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92240" y="1051560"/>
            <a:ext cx="5669280" cy="5257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1D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 (Biased) — sample images from “Black” test folder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7512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U (Unbiased) — same sample images</a:t>
            </a:r>
            <a:endParaRPr lang="en-US" sz="1400" dirty="0"/>
          </a:p>
        </p:txBody>
      </p:sp>
      <p:pic>
        <p:nvPicPr>
          <p:cNvPr id="7" name="Image 0" descr="/mnt/data/slide_fig_preds_modelA_cr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695"/>
            <a:ext cx="5394960" cy="4022745"/>
          </a:xfrm>
          <a:prstGeom prst="rect">
            <a:avLst/>
          </a:prstGeom>
        </p:spPr>
      </p:pic>
      <p:pic>
        <p:nvPicPr>
          <p:cNvPr id="8" name="Image 1" descr="/mnt/data/slide_fig_preds_modelU_cro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783696"/>
            <a:ext cx="5394960" cy="4022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6355080"/>
            <a:ext cx="1152144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77240" y="642823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Data imbalance can push predictions toward overrepresented classes; balancing training data improves minority intersection performance (but may reduce majority accuracy).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6424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7548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 for an AI audience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Causal story: subgroup exposure in training → systematic subgroup performance differences at test time.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Intersectional reporting is necessary: race-only or gender-only can hide failures at race×gender intersections.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Mitigation is not “free”: improvements may come with trade-offs; measure worst-group accuracy and gaps.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Limitations: predicting sensitive attributes has ethical risk; results depend on dataset labels and image conditions.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Recommended extensions: calibration by subgroup (ECE), balanced accuracy/macro-F1, and error analysis via confusion matrices.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537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Educational/research demo only • Do not use for high-stakes decisions without governance and validation.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619</Words>
  <Application>Microsoft Office PowerPoint</Application>
  <PresentationFormat>Widescreen</PresentationFormat>
  <Paragraphs>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Solomon Ruzima</cp:lastModifiedBy>
  <cp:revision>2</cp:revision>
  <dcterms:created xsi:type="dcterms:W3CDTF">2026-02-10T22:21:09Z</dcterms:created>
  <dcterms:modified xsi:type="dcterms:W3CDTF">2026-02-10T22:42:26Z</dcterms:modified>
</cp:coreProperties>
</file>